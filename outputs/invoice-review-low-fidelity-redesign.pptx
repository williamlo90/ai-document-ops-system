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5d8d2ac2dc4533" /><Relationship Type="http://schemas.openxmlformats.org/officeDocument/2006/relationships/extended-properties" Target="/docProps/app.xml" Id="R7988c880d28e4227" /><Relationship Type="http://schemas.openxmlformats.org/officeDocument/2006/relationships/officeDocument" Target="/ppt/presentation.xml" Id="Rf6bfa121e66040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779f30ab56458a"/>
  </p:sldMasterIdLst>
  <p:notesMasterIdLst>
    <p:notesMasterId xmlns:r="http://schemas.openxmlformats.org/officeDocument/2006/relationships" r:id="R635a3ccdda3c4397"/>
  </p:notesMasterIdLst>
  <p:sldIdLst>
    <p:sldId xmlns:r="http://schemas.openxmlformats.org/officeDocument/2006/relationships" id="256" r:id="Rebb09392d4a44e13"/>
    <p:sldId xmlns:r="http://schemas.openxmlformats.org/officeDocument/2006/relationships" id="257" r:id="Rf7e4917f43a04d19"/>
    <p:sldId xmlns:r="http://schemas.openxmlformats.org/officeDocument/2006/relationships" id="258" r:id="Rb880f1aa1c3b478a"/>
    <p:sldId xmlns:r="http://schemas.openxmlformats.org/officeDocument/2006/relationships" id="259" r:id="R13c6907bb49e4149"/>
    <p:sldId xmlns:r="http://schemas.openxmlformats.org/officeDocument/2006/relationships" id="260" r:id="Rde05d82b24ec4971"/>
    <p:sldId xmlns:r="http://schemas.openxmlformats.org/officeDocument/2006/relationships" id="261" r:id="Re76c16294c084d9b"/>
    <p:sldId xmlns:r="http://schemas.openxmlformats.org/officeDocument/2006/relationships" id="262" r:id="Rebb96b0e60b94ca7"/>
    <p:sldId xmlns:r="http://schemas.openxmlformats.org/officeDocument/2006/relationships" id="263" r:id="R682da49bd9564f56"/>
    <p:sldId xmlns:r="http://schemas.openxmlformats.org/officeDocument/2006/relationships" id="264" r:id="R0c4d461176374513"/>
    <p:sldId xmlns:r="http://schemas.openxmlformats.org/officeDocument/2006/relationships" id="265" r:id="R973ab91ded114ff3"/>
    <p:sldId xmlns:r="http://schemas.openxmlformats.org/officeDocument/2006/relationships" id="266" r:id="R6454b28fe0784201"/>
    <p:sldId xmlns:r="http://schemas.openxmlformats.org/officeDocument/2006/relationships" id="267" r:id="Rb7cafcdb2f8247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d2feb7c64b4d0c" /><Relationship Type="http://schemas.openxmlformats.org/officeDocument/2006/relationships/slideMaster" Target="/ppt/slideMasters/slideMaster1.xml" Id="Ra2779f30ab56458a" /><Relationship Type="http://schemas.openxmlformats.org/officeDocument/2006/relationships/notesMaster" Target="/ppt/notesMasters/notesMaster1.xml" Id="R635a3ccdda3c4397" /><Relationship Type="http://schemas.openxmlformats.org/officeDocument/2006/relationships/presProps" Target="/ppt/presProps.xml" Id="R04f3a5a0677c40a0" /><Relationship Type="http://schemas.openxmlformats.org/officeDocument/2006/relationships/tableStyles" Target="/ppt/tableStyles.xml" Id="R49714a5658e7454d" /><Relationship Type="http://schemas.openxmlformats.org/officeDocument/2006/relationships/slide" Target="/ppt/slides/slide1.xml" Id="Rebb09392d4a44e13" /><Relationship Type="http://schemas.openxmlformats.org/officeDocument/2006/relationships/slide" Target="/ppt/slides/slide2.xml" Id="Rf7e4917f43a04d19" /><Relationship Type="http://schemas.openxmlformats.org/officeDocument/2006/relationships/slide" Target="/ppt/slides/slide3.xml" Id="Rb880f1aa1c3b478a" /><Relationship Type="http://schemas.openxmlformats.org/officeDocument/2006/relationships/slide" Target="/ppt/slides/slide4.xml" Id="R13c6907bb49e4149" /><Relationship Type="http://schemas.openxmlformats.org/officeDocument/2006/relationships/slide" Target="/ppt/slides/slide5.xml" Id="Rde05d82b24ec4971" /><Relationship Type="http://schemas.openxmlformats.org/officeDocument/2006/relationships/slide" Target="/ppt/slides/slide6.xml" Id="Re76c16294c084d9b" /><Relationship Type="http://schemas.openxmlformats.org/officeDocument/2006/relationships/slide" Target="/ppt/slides/slide7.xml" Id="Rebb96b0e60b94ca7" /><Relationship Type="http://schemas.openxmlformats.org/officeDocument/2006/relationships/slide" Target="/ppt/slides/slide8.xml" Id="R682da49bd9564f56" /><Relationship Type="http://schemas.openxmlformats.org/officeDocument/2006/relationships/slide" Target="/ppt/slides/slide9.xml" Id="R0c4d461176374513" /><Relationship Type="http://schemas.openxmlformats.org/officeDocument/2006/relationships/slide" Target="/ppt/slides/slide10.xml" Id="R973ab91ded114ff3" /><Relationship Type="http://schemas.openxmlformats.org/officeDocument/2006/relationships/slide" Target="/ppt/slides/slide11.xml" Id="R6454b28fe0784201" /><Relationship Type="http://schemas.openxmlformats.org/officeDocument/2006/relationships/slide" Target="/ppt/slides/slide12.xml" Id="Rb7cafcdb2f8247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ce9452f06046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d60ed390c5488c" /><Relationship Type="http://schemas.openxmlformats.org/officeDocument/2006/relationships/notesMaster" Target="/ppt/notesMasters/notesMaster1.xml" Id="Rf5bd5e194f014d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2430c3d5284928" /><Relationship Type="http://schemas.openxmlformats.org/officeDocument/2006/relationships/notesMaster" Target="/ppt/notesMasters/notesMaster1.xml" Id="Ra73a00e88a134d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58a24cff4049b8" /><Relationship Type="http://schemas.openxmlformats.org/officeDocument/2006/relationships/notesMaster" Target="/ppt/notesMasters/notesMaster1.xml" Id="Rf41ef8bdc97447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96ddc615dc4139" /><Relationship Type="http://schemas.openxmlformats.org/officeDocument/2006/relationships/notesMaster" Target="/ppt/notesMasters/notesMaster1.xml" Id="R0fed6e0415d043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077c586cbf4e69" /><Relationship Type="http://schemas.openxmlformats.org/officeDocument/2006/relationships/notesMaster" Target="/ppt/notesMasters/notesMaster1.xml" Id="R4a7aa1cd927448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b713158701481f" /><Relationship Type="http://schemas.openxmlformats.org/officeDocument/2006/relationships/notesMaster" Target="/ppt/notesMasters/notesMaster1.xml" Id="R2870cf67339c4e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1d1573ad77444e" /><Relationship Type="http://schemas.openxmlformats.org/officeDocument/2006/relationships/notesMaster" Target="/ppt/notesMasters/notesMaster1.xml" Id="R0b8899e5ca9b42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abf584b32a4fb0" /><Relationship Type="http://schemas.openxmlformats.org/officeDocument/2006/relationships/notesMaster" Target="/ppt/notesMasters/notesMaster1.xml" Id="R4a30076d85e541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423473a61b44b0" /><Relationship Type="http://schemas.openxmlformats.org/officeDocument/2006/relationships/notesMaster" Target="/ppt/notesMasters/notesMaster1.xml" Id="R64f61286b1f745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7667ec8be443e9" /><Relationship Type="http://schemas.openxmlformats.org/officeDocument/2006/relationships/notesMaster" Target="/ppt/notesMasters/notesMaster1.xml" Id="R3127a37554904e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2829c635974e3e" /><Relationship Type="http://schemas.openxmlformats.org/officeDocument/2006/relationships/notesMaster" Target="/ppt/notesMasters/notesMaster1.xml" Id="R3bd8ac42743b4d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6f4432567f4718" /><Relationship Type="http://schemas.openxmlformats.org/officeDocument/2006/relationships/notesMaster" Target="/ppt/notesMasters/notesMaster1.xml" Id="R2ebafff5e45741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32087e88d41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041bb1312f477a" /><Relationship Type="http://schemas.openxmlformats.org/officeDocument/2006/relationships/slideLayout" Target="/ppt/slideLayouts/slideLayout1.xml" Id="Re3d396ca44a740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d396ca44a740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89699005142c3" /><Relationship Type="http://schemas.openxmlformats.org/officeDocument/2006/relationships/notesSlide" Target="/ppt/notesSlides/notesSlide1.xml" Id="R3f2426a155da40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2cfcd8e1c4465" /><Relationship Type="http://schemas.openxmlformats.org/officeDocument/2006/relationships/notesSlide" Target="/ppt/notesSlides/notesSlide2.xml" Id="Rf842d6b8745440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33114caaa4e48" /><Relationship Type="http://schemas.openxmlformats.org/officeDocument/2006/relationships/notesSlide" Target="/ppt/notesSlides/notesSlide3.xml" Id="R0315e84320b04d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5ff94bf2a4471" /><Relationship Type="http://schemas.openxmlformats.org/officeDocument/2006/relationships/notesSlide" Target="/ppt/notesSlides/notesSlide4.xml" Id="R7d3dfbf8f7c04c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159345c994d52" /><Relationship Type="http://schemas.openxmlformats.org/officeDocument/2006/relationships/notesSlide" Target="/ppt/notesSlides/notesSlide5.xml" Id="R9ef706691d4745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6972d35b84154" /><Relationship Type="http://schemas.openxmlformats.org/officeDocument/2006/relationships/notesSlide" Target="/ppt/notesSlides/notesSlide6.xml" Id="Rc286753b82fd46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46356927f4142" /><Relationship Type="http://schemas.openxmlformats.org/officeDocument/2006/relationships/notesSlide" Target="/ppt/notesSlides/notesSlide7.xml" Id="R40541a5c33ad40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a8e6124864dc3" /><Relationship Type="http://schemas.openxmlformats.org/officeDocument/2006/relationships/notesSlide" Target="/ppt/notesSlides/notesSlide8.xml" Id="R246049db98264a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eaffe21e244d0" /><Relationship Type="http://schemas.openxmlformats.org/officeDocument/2006/relationships/notesSlide" Target="/ppt/notesSlides/notesSlide9.xml" Id="R69a8fc4dc5f649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6f113a163442e" /><Relationship Type="http://schemas.openxmlformats.org/officeDocument/2006/relationships/notesSlide" Target="/ppt/notesSlides/notesSlide10.xml" Id="R1dd366d466564b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ec4ab02c542f2" /><Relationship Type="http://schemas.openxmlformats.org/officeDocument/2006/relationships/notesSlide" Target="/ppt/notesSlides/notesSlide11.xml" Id="Rb6b21b3cc25d48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6c074a5974684" /><Relationship Type="http://schemas.openxmlformats.org/officeDocument/2006/relationships/notesSlide" Target="/ppt/notesSlides/notesSlide12.xml" Id="R556b0298d1614d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BEA36E-3C48-4E11-9ED7-35FCF4CC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172B"/>
                </a:solidFill>
              </a:defRPr>
            </a:pPr>
            <a:r>
              <a:rPr sz="3900" b="1">
                <a:solidFill>
                  <a:srgbClr val="0F172B"/>
                </a:solidFill>
              </a:rPr>
              <a:t>Invoice Review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3B79E-2A4A-4339-A71F-9CDA26B5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D293D"/>
                </a:solidFill>
              </a:defRPr>
            </a:pPr>
            <a:r>
              <a:rPr sz="1875" b="0">
                <a:solidFill>
                  <a:srgbClr val="1D293D"/>
                </a:solidFill>
              </a:rPr>
              <a:t>Low-fidelity redesign for non-technical invoice upload, checking, approval, and history.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94F67-3E2B-418D-A6F9-E1898B51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EA69F-733E-45A8-B943-94C10DCD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048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E2A48-40B9-42C4-8D64-20D14F6B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Verdict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38A4D-A4AC-40B0-8B4B-C69937DA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629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The current UI exposes the system too much. It may satisfy technical requirements, but it is not yet demo-safe for ordinary business users.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D36BE-48D9-431C-A375-37D5A061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048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DEA7B-11ED-412B-8B19-5A7C863F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Design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2EECD-0DEF-482F-8C9C-60BB19A4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4629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One user job per screen. Plain business words. Technical evidence stays available, but not in the main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651F8-E4AB-4E5C-B28E-A1E7746A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48E"/>
                </a:solidFill>
              </a:defRPr>
            </a:pPr>
            <a:r>
              <a:rPr sz="1350" b="1">
                <a:solidFill>
                  <a:srgbClr val="62748E"/>
                </a:solidFill>
              </a:rPr>
              <a:t>Draft for review before frontend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6969827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3CAFDE-2CFB-4FB4-91D4-C43B14C9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LOW-FIDELITY UX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8E6B1-2453-40F6-9E4C-5016BD36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B"/>
                </a:solidFill>
              </a:defRPr>
            </a:pPr>
            <a:r>
              <a:rPr sz="2625" b="1">
                <a:solidFill>
                  <a:srgbClr val="0F172B"/>
                </a:solidFill>
              </a:rPr>
              <a:t>1. Audit Singkat: Apa Yang Salah Sekarang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0B555-EF64-4FF2-8676-DB880B7E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24911-DAED-495F-9ED5-F8037191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333750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B2460-C529-4824-B5CB-32E46158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Problem 1: UI bicara seperti sistem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53AC4-8368-4E3E-B8F3-A0A835A1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9146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Istilah seperti workflow, agent, evidence, provider health, gate, dan task membuat user merasa sedang mengoperasikan mesin internal, bukan menyelesaikan invoice.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9C712-2969-4F83-9428-5E4E49BD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00200"/>
            <a:ext cx="3333750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DF3BA-913F-468A-AAE0-91A38C3A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907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Problem 2: Terlalu banyak pilihan setara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3CAFD-80FA-4E54-B11F-36096D00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90750"/>
            <a:ext cx="29146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Empat pilihan next step dan tab seperti Review, Next Steps, Approval Decision, Record, History memberi kesan semua penting. User awam butuh satu aksi utama yang jelas.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05499-A6CE-4F65-98A6-257CD3DA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0200"/>
            <a:ext cx="3333750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CC672-7F86-44B7-9F03-9630AA67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907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Problem 3: Status tidak menjawab pertanyaan 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1DAE5-F859-4743-AF5E-C38C17E6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9146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Queue kosong, My Documents kosong, tapi Document Library ada. Itu merusak trust karena user tidak tahu apakah upload berhasil atau hilang.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D74F8-AE89-40AA-B5E6-80AA8388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C003F"/>
                </a:solidFill>
              </a:defRPr>
            </a:pPr>
            <a:r>
              <a:rPr sz="1800" b="1">
                <a:solidFill>
                  <a:srgbClr val="EC003F"/>
                </a:solidFill>
              </a:rPr>
              <a:t>Verdict objektif: fitur ada, tapi information architecture-nya belum layak untuk demo orang awam.</a:t>
            </a:r>
          </a:p>
        </p:txBody>
      </p:sp>
    </p:spTree>
    <p:extLst>
      <p:ext uri="{BB962C8B-B14F-4D97-AF65-F5344CB8AC3E}">
        <p14:creationId xmlns:p14="http://schemas.microsoft.com/office/powerpoint/2010/main" val="651100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5F0DA1-51BF-40D7-BE9A-B7585AE0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LOW-FIDELITY UX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9C5B4-3E85-47B4-B7E8-B390B7B7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B"/>
                </a:solidFill>
              </a:defRPr>
            </a:pPr>
            <a:r>
              <a:rPr sz="2625" b="1">
                <a:solidFill>
                  <a:srgbClr val="0F172B"/>
                </a:solidFill>
              </a:rPr>
              <a:t>2. Struktur Baru: Satu Alur Bisnis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5CA6C-0540-49D2-B79F-FB8132C3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F0F67-0393-4FE8-B4DF-0AD2E671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6573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84326-E1AA-42F6-8230-D9D5D8BE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05050"/>
            <a:ext cx="552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D64A6-9874-499D-B23D-8BA5F6A3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3337C-50D2-48E4-AF8E-74A02D34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052B2-E5C0-4E46-AF40-E19346E1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D293D"/>
                </a:solidFill>
              </a:defRPr>
            </a:pPr>
            <a:r>
              <a:rPr sz="1125" b="0">
                <a:solidFill>
                  <a:srgbClr val="1D293D"/>
                </a:solidFill>
              </a:rPr>
              <a:t>Masukkan invoice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38FEE-31D1-4851-8C03-17D226B9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146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2748E"/>
                </a:solidFill>
              </a:defRPr>
            </a:pPr>
            <a:r>
              <a:rPr sz="1950" b="1">
                <a:solidFill>
                  <a:srgbClr val="62748E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5DF3E-58EA-4A06-B4FE-C8D11921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95500"/>
            <a:ext cx="16573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055BD-6ED3-4535-AA00-50605968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05050"/>
            <a:ext cx="552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D7A01-8C93-471C-BAB6-1221B69A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98402-BD97-4EAA-92BD-29CE1C85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813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Sistem membaca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BDFB3-1856-4E83-A83A-838BF99A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432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D293D"/>
                </a:solidFill>
              </a:defRPr>
            </a:pPr>
            <a:r>
              <a:rPr sz="1125" b="0">
                <a:solidFill>
                  <a:srgbClr val="1D293D"/>
                </a:solidFill>
              </a:rPr>
              <a:t>Data invoice diekstrak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D2567-F8F1-4230-8EDE-FD0358D7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146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2748E"/>
                </a:solidFill>
              </a:defRPr>
            </a:pPr>
            <a:r>
              <a:rPr sz="1950" b="1">
                <a:solidFill>
                  <a:srgbClr val="62748E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EF377-CEF8-4890-84AC-936B2436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16573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8C10B-12C8-4454-92A5-127C5D32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05050"/>
            <a:ext cx="552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25738-95FA-4248-B88C-5AF9504B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EC99EA-E504-4A12-BBF6-C45E8C4F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Cek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6EA70-CC42-4C2A-A9FC-D15657AA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D293D"/>
                </a:solidFill>
              </a:defRPr>
            </a:pPr>
            <a:r>
              <a:rPr sz="1125" b="0">
                <a:solidFill>
                  <a:srgbClr val="1D293D"/>
                </a:solidFill>
              </a:rPr>
              <a:t>User koreksi bila perlu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F187EE-48B2-4224-AFA1-02422BC1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146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2748E"/>
                </a:solidFill>
              </a:defRPr>
            </a:pPr>
            <a:r>
              <a:rPr sz="1950" b="1">
                <a:solidFill>
                  <a:srgbClr val="62748E"/>
                </a:solidFill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F3DAC-04BB-41F1-9BEF-7F2B7C24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95500"/>
            <a:ext cx="16573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CBFC3C-AA3A-468B-854F-0863508B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05050"/>
            <a:ext cx="552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2F4B8D-4BF9-4BF9-A20B-21A7F149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E5FE2E-0412-4932-AD65-94318720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7813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Approve / Reject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8D8E4D-5CB7-4694-A4F3-1BC0922C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D293D"/>
                </a:solidFill>
              </a:defRPr>
            </a:pPr>
            <a:r>
              <a:rPr sz="1125" b="0">
                <a:solidFill>
                  <a:srgbClr val="1D293D"/>
                </a:solidFill>
              </a:rPr>
              <a:t>Keputusan bisnis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9DF42F-0B39-45CB-943A-F7EF65C6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7146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2748E"/>
                </a:solidFill>
              </a:defRPr>
            </a:pPr>
            <a:r>
              <a:rPr sz="1950" b="1">
                <a:solidFill>
                  <a:srgbClr val="62748E"/>
                </a:solidFill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7AA6E2-AC9E-46D7-94F6-BAA27CBD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95500"/>
            <a:ext cx="16573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582F94-D7CD-4D18-8ED1-C8833C31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05050"/>
            <a:ext cx="552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91B9EE-1477-4152-B13B-5363EA13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81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348EF6-2EFC-4088-A7AF-93A802EA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Riwayat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D7D02B-8841-4453-AB65-D7228A71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D293D"/>
                </a:solidFill>
              </a:defRPr>
            </a:pPr>
            <a:r>
              <a:rPr sz="1125" b="0">
                <a:solidFill>
                  <a:srgbClr val="1D293D"/>
                </a:solidFill>
              </a:rPr>
              <a:t>Audit trail sederhana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699A47-4EF8-4B2D-A0FC-A95305EF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Tidak ada menu utama bernama AgentOps, workflow, task queue, schema, evidence, atau provider health.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AADBE1-D7DE-456C-951A-E21E5E36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48E"/>
                </a:solidFill>
              </a:defRPr>
            </a:pPr>
            <a:r>
              <a:rPr sz="1350" b="0">
                <a:solidFill>
                  <a:srgbClr val="62748E"/>
                </a:solidFill>
              </a:rPr>
              <a:t>Konsep teknis tetap boleh ada di Admin/Developer View, bukan di jalur demo utama.</a:t>
            </a:r>
          </a:p>
        </p:txBody>
      </p:sp>
    </p:spTree>
    <p:extLst>
      <p:ext uri="{BB962C8B-B14F-4D97-AF65-F5344CB8AC3E}">
        <p14:creationId xmlns:p14="http://schemas.microsoft.com/office/powerpoint/2010/main" val="7799661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24FBDD-2242-4634-97D9-6F4EE4BD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LOW-FIDELITY UX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C5223-7662-41ED-815B-4B3A74E2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B"/>
                </a:solidFill>
              </a:defRPr>
            </a:pPr>
            <a:r>
              <a:rPr sz="2625" b="1">
                <a:solidFill>
                  <a:srgbClr val="0F172B"/>
                </a:solidFill>
              </a:rPr>
              <a:t>3. Navigasi Baru: Yang Dilihat User Awam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DDB5C-9215-4617-BCC3-54E23FA4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E7CAB-F7F5-4011-9AD6-7A99D493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6670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BE465-E88B-45D2-8F81-07661A66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Primary navigation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F9E30-7687-4A59-9A86-978BBDC3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2479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Upload Invoice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Invoices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Approvals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B7746-BB70-454A-922F-B593DF2B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26670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72D53-E060-46E0-ADF9-3C67FC97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Admin-only / hidden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C32F1-44F5-47C1-A11E-EA14DBC1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22479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System Health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Agent Runs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Raw Evidence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Schema Debug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Provider Settings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Execution Logs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791ED-2854-4E19-91BA-1195FFC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26670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0F98B-AC40-4483-9B83-C9A3B428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002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Deleted from main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8833E-AEFA-4AB0-899B-5AC55581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00300"/>
            <a:ext cx="22479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Next Steps menu with 4 technical choices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Separate Record tab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Approval Gate wording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Work queue language for ordinary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11AA3-DF08-4A4C-8DC2-200A0C5C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Recommendation: keep power features, but move them behind an Admin/Developer area. Demo path must stay boringly obvious.</a:t>
            </a:r>
          </a:p>
        </p:txBody>
      </p:sp>
    </p:spTree>
    <p:extLst>
      <p:ext uri="{BB962C8B-B14F-4D97-AF65-F5344CB8AC3E}">
        <p14:creationId xmlns:p14="http://schemas.microsoft.com/office/powerpoint/2010/main" val="13548965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5F5650-520A-4CB5-A34E-F4E2EE8F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LOW-FIDELITY UX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B00F0-7014-4A26-9690-F8FD605A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B"/>
                </a:solidFill>
              </a:defRPr>
            </a:pPr>
            <a:r>
              <a:rPr sz="2625" b="1">
                <a:solidFill>
                  <a:srgbClr val="0F172B"/>
                </a:solidFill>
              </a:rPr>
              <a:t>4. Wireframe: Upload Invoice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E7479-B354-41D5-9D98-B7D0986E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35762-2FAF-449E-A864-6E4B6215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5494C-0323-4B1A-813F-0FAE1192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Invoice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A599C-9623-494E-A6CE-16433AA1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002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D61F6-FCF5-4AC9-8463-B5397696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B"/>
                </a:solidFill>
              </a:defRPr>
            </a:pPr>
            <a:r>
              <a:rPr sz="1050" b="1">
                <a:solidFill>
                  <a:srgbClr val="0F172B"/>
                </a:solidFill>
              </a:rPr>
              <a:t>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46555-7483-419C-B4B1-2392BAF7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Invoices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5F5F9-BC19-472E-9890-6BFCC473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Approvals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E3C6C-11A2-4592-9A5A-C471A354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ADD94-472D-4ED1-B468-BC2BAF32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41A69-B956-44E3-B0C9-0769E253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Role: Reviewer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7CBCC-7532-4F98-8C30-8273F855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9410700" cy="2933700"/>
          </a:xfrm>
          <a:prstGeom xmlns:a="http://schemas.openxmlformats.org/drawingml/2006/main" prst="roundRect">
            <a:avLst>
              <a:gd name="adj" fmla="val 19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5498A-725A-488E-81CE-265ADEC0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00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B"/>
                </a:solidFill>
              </a:defRPr>
            </a:pPr>
            <a:r>
              <a:rPr sz="2100" b="1">
                <a:solidFill>
                  <a:srgbClr val="0F172B"/>
                </a:solidFill>
              </a:rPr>
              <a:t>Upload invoice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63AD8-B60F-453A-863B-A6149DBD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4480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D293D"/>
                </a:solidFill>
              </a:defRPr>
            </a:pPr>
            <a:r>
              <a:rPr sz="1800" b="0">
                <a:solidFill>
                  <a:srgbClr val="1D293D"/>
                </a:solidFill>
              </a:rPr>
              <a:t>Drop PDF here or choose 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60B41-4638-47AC-BEB1-79B5AC6D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86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48E"/>
                </a:solidFill>
              </a:defRPr>
            </a:pPr>
            <a:r>
              <a:rPr sz="1200" b="0">
                <a:solidFill>
                  <a:srgbClr val="62748E"/>
                </a:solidFill>
              </a:rPr>
              <a:t>Supported: PDF, JPG, PNG. Max 10 MB.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ECA3A-7F12-4C1B-A8A1-E3D7284A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3048000" cy="14668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0F6145-780B-471F-9ECB-91602036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62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2748E"/>
                </a:solidFill>
              </a:defRPr>
            </a:pPr>
            <a:r>
              <a:rPr sz="1500" b="1">
                <a:solidFill>
                  <a:srgbClr val="62748E"/>
                </a:solidFill>
              </a:rPr>
              <a:t>File preview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68AF9-5B5A-482C-A4D8-F5D3E8A3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767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1D29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130E5-7453-453F-8035-7D6066CF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6005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Choose file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F3C47-01B0-4342-A602-633C6A04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76750"/>
            <a:ext cx="2095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69A8"/>
          </a:solidFill>
          <a:ln xmlns:a="http://schemas.openxmlformats.org/drawingml/2006/main" w="9525">
            <a:solidFill>
              <a:srgbClr val="0069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7A76A9-4136-4ED4-8D83-BC44E6D1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005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Start reading invoice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F5AF4-DEF2-4A3A-9C82-20819293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531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48E"/>
                </a:solidFill>
              </a:defRPr>
            </a:pPr>
            <a:r>
              <a:rPr sz="1350" b="0">
                <a:solidFill>
                  <a:srgbClr val="62748E"/>
                </a:solidFill>
              </a:rPr>
              <a:t>Empty state copy: No invoices yet. Upload your first invoice to start checking it.</a:t>
            </a:r>
          </a:p>
        </p:txBody>
      </p:sp>
    </p:spTree>
    <p:extLst>
      <p:ext uri="{BB962C8B-B14F-4D97-AF65-F5344CB8AC3E}">
        <p14:creationId xmlns:p14="http://schemas.microsoft.com/office/powerpoint/2010/main" val="20989952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97A606-511F-4FA8-ACF6-4E7F05D1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LOW-FIDELITY UX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43DE2-310F-4597-8F24-EB1534CC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B"/>
                </a:solidFill>
              </a:defRPr>
            </a:pPr>
            <a:r>
              <a:rPr sz="2625" b="1">
                <a:solidFill>
                  <a:srgbClr val="0F172B"/>
                </a:solidFill>
              </a:rPr>
              <a:t>5. Wireframe: Invoices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A2DD5-8F59-4544-821F-553A52F6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E749D-E662-4CE9-ABFF-2448DF32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06457-AD06-4858-BF9B-BE4447A5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Invoice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72D0B-AD85-47CD-9CB1-3480C6C5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22A2D-1ACE-41C3-8F36-8F5FE589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002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83A4A-D193-433D-8858-15E5226E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B"/>
                </a:solidFill>
              </a:defRPr>
            </a:pPr>
            <a:r>
              <a:rPr sz="1050" b="1">
                <a:solidFill>
                  <a:srgbClr val="0F172B"/>
                </a:solidFill>
              </a:rPr>
              <a:t>Invoices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CB8D6-8976-4539-9BDC-3CFD7F4F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Approvals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0BE1B-391E-481C-95F7-14403C06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344D2-2421-49D1-8D4B-BEC8DA4D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29E08-66D1-4B94-B013-839B6FB5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Role: Reviewer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79673-F37F-4DE5-A21B-92E388BF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B"/>
                </a:solidFill>
              </a:defRPr>
            </a:pPr>
            <a:r>
              <a:rPr sz="2250" b="1">
                <a:solidFill>
                  <a:srgbClr val="0F172B"/>
                </a:solidFill>
              </a:rPr>
              <a:t>Invoices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3868E-78A6-44F4-9B67-1A87D84B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2381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BF32D-1472-476C-9335-28F6CC7B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384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E"/>
                </a:solidFill>
              </a:defRPr>
            </a:pPr>
            <a:r>
              <a:rPr sz="1125" b="0">
                <a:solidFill>
                  <a:srgbClr val="62748E"/>
                </a:solidFill>
              </a:rPr>
              <a:t>Search vendor or invoice no.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07485-0B49-4D45-9587-C65C1645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05050"/>
            <a:ext cx="10668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1D29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CB63A-A382-4AC8-AA26-8AD6E09C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2887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D8909-D515-43A8-8211-3636F265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609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CCD72-A351-4E0C-98E9-29A34138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E13897-A70E-435D-8E41-FBB129F6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9560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06BF0-984E-4672-82B5-72C3A099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718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Needs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7B57B-342D-47E8-98DB-DD829534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9560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84B724-C8FF-4871-8EEF-995560B4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718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Waiting approval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ACDA8D-204B-4110-9E23-8D2B5AE0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723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2CF093-F946-4B93-818F-85774EF8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Done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EAF8D4-6B73-4431-A256-939C9CD9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9296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ECD9F-8C46-4F61-B923-4BAAE8D7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PT Sinar Jaya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15C51D-13DD-4257-9E61-9C26F9F6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57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B"/>
                </a:solidFill>
              </a:defRPr>
            </a:pPr>
            <a:r>
              <a:rPr sz="1275" b="1">
                <a:solidFill>
                  <a:srgbClr val="0F172B"/>
                </a:solidFill>
              </a:rPr>
              <a:t>Rp 12.400.000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1D9B1-D53C-4D39-9FE5-B9197D06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24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190ADD-DC07-48CB-B062-957D509B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Needs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21F9B4-C7B8-4FC7-92A9-F60922DC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990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1D293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58A3CC-865A-438F-9111-E722CAE1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433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B9C35F-0680-4D93-9CD8-2077B805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9296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A57D8F-31BB-4CC6-9BC4-BB3D244F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Acme Supplies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88B816-7C24-4142-98AE-21C1139C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B"/>
                </a:solidFill>
              </a:defRPr>
            </a:pPr>
            <a:r>
              <a:rPr sz="1275" b="1">
                <a:solidFill>
                  <a:srgbClr val="0F172B"/>
                </a:solidFill>
              </a:rPr>
              <a:t>Rp 3.250.000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C1D612-7309-49FD-B708-1CE1C26E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9A8"/>
          </a:solidFill>
          <a:ln xmlns:a="http://schemas.openxmlformats.org/drawingml/2006/main" w="0">
            <a:solidFill>
              <a:srgbClr val="0069A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943A17-D137-4400-8D9D-26210479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95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Waiting approval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B48102-0095-447C-A79F-521E2A3D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38650"/>
            <a:ext cx="990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1D293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B6C54B-31A1-4141-9FCC-FC934CCA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6247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265E36-858A-493A-A516-F6229013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2964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87A5CD-85C1-4F4F-8CD6-5B6F7D17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Nusantara Cloud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722679-4A9B-4C19-9CBA-B14BF93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95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B"/>
                </a:solidFill>
              </a:defRPr>
            </a:pPr>
            <a:r>
              <a:rPr sz="1275" b="1">
                <a:solidFill>
                  <a:srgbClr val="0F172B"/>
                </a:solidFill>
              </a:rPr>
              <a:t>Rp 950.000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16F2F7-657C-4BAA-A973-CE6CF5CA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62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64B27F-B207-4048-ACDC-EF5C5998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14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Approved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AD68B2-BFE9-48D4-8A5B-35859A1B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57800"/>
            <a:ext cx="990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1D293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AB4E0D-06BA-4B51-B086-051CF4E2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816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7254128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AF78B6-5720-418E-9487-69DC6D58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LOW-FIDELITY UX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CA1F4-186D-4B15-AF85-8420D77B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B"/>
                </a:solidFill>
              </a:defRPr>
            </a:pPr>
            <a:r>
              <a:rPr sz="2625" b="1">
                <a:solidFill>
                  <a:srgbClr val="0F172B"/>
                </a:solidFill>
              </a:rPr>
              <a:t>6. Wireframe: Review Invoice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D0395-47E0-409B-B1B2-3E2C65E3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6B30E-B55B-415A-ACAD-B937962F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380AF-94A3-4758-B87D-8A80ED25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Invoice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EC92E-1B81-4BBC-919D-EF7FF21C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1F130-891C-432C-AA2D-90CC59D0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Invoices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D1890-1A51-4D31-AA43-2643DD2A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002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0355D-74F7-4AA9-9B29-E7637466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B"/>
                </a:solidFill>
              </a:defRPr>
            </a:pPr>
            <a:r>
              <a:rPr sz="1050" b="1">
                <a:solidFill>
                  <a:srgbClr val="0F172B"/>
                </a:solidFill>
              </a:rPr>
              <a:t>Approvals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94223-90EF-4817-9EEC-954DB938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FBA14-DA64-4200-BA6E-3E44364B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785B1-886D-4640-BFB4-25E60DF2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Role: Reviewer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50C6D-0E0C-4C6E-8BF1-E1A8FB85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4953000" cy="3524250"/>
          </a:xfrm>
          <a:prstGeom xmlns:a="http://schemas.openxmlformats.org/drawingml/2006/main" prst="roundRect">
            <a:avLst>
              <a:gd name="adj" fmla="val 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61AA5-7868-4B21-8DFF-E25DEFCB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Invoice preview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6F189-9BDF-4644-8125-CA551FE5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67050"/>
            <a:ext cx="4152900" cy="22288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0C0BA-6B71-4395-8D4A-8D099A99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38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2748E"/>
                </a:solidFill>
              </a:defRPr>
            </a:pPr>
            <a:r>
              <a:rPr sz="1650" b="1">
                <a:solidFill>
                  <a:srgbClr val="62748E"/>
                </a:solidFill>
              </a:rPr>
              <a:t>PDF page preview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421DE-054B-4469-ADBC-97A4CEEF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43150"/>
            <a:ext cx="5334000" cy="3524250"/>
          </a:xfrm>
          <a:prstGeom xmlns:a="http://schemas.openxmlformats.org/drawingml/2006/main" prst="roundRect">
            <a:avLst>
              <a:gd name="adj" fmla="val 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50CE5-4C56-440D-8377-73D86D3A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Check invoice details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1223D-ECE6-42BA-8A76-27193755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3714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8E43C-E0AD-4FC4-83F7-3638265B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Vendor: PT Sinar Jaya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BBB9C-E200-4992-90F3-1C3E79B3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3714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5D191-6022-41C9-BCC1-17A369A8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Invoice no: INV-2026-018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D6D88-B382-48C6-A812-A6B9286E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3714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4A7E35-203E-49EB-AD81-EE7790C5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Date: 12 Jul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497514-6A74-4B4E-9B79-6289FE81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3714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713297-F047-4CBE-9505-561B126C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Amount: Rp 12.400.000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5DD658-5008-4121-A6F9-5E4C94BD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43450"/>
            <a:ext cx="3714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E129FE-F008-45F7-816E-E3E30263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96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Tax: Rp 1.127.273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EBAE59-7366-44B5-A252-E443492F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81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67F16A-954F-4D07-8AE3-D754259B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System confidence: needs human check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2494BD-68A0-4D38-B256-270B328B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95900"/>
            <a:ext cx="13525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9525">
            <a:solidFill>
              <a:srgbClr val="0099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3185A1-4A76-4864-91B8-2D67FF22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1972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Looks correct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6D5D86-3FF9-47EC-BBF7-706999E0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295900"/>
            <a:ext cx="11811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1D29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A166BA-7504-4A73-8805-5FE319FF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197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Edit details</a:t>
            </a:r>
          </a:p>
        </p:txBody>
      </p:sp>
    </p:spTree>
    <p:extLst>
      <p:ext uri="{BB962C8B-B14F-4D97-AF65-F5344CB8AC3E}">
        <p14:creationId xmlns:p14="http://schemas.microsoft.com/office/powerpoint/2010/main" val="797478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6207DA-EC27-4397-B102-54110ECF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LOW-FIDELITY UX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6FDB8-CDE1-4B69-8707-8E395D8B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B"/>
                </a:solidFill>
              </a:defRPr>
            </a:pPr>
            <a:r>
              <a:rPr sz="2625" b="1">
                <a:solidFill>
                  <a:srgbClr val="0F172B"/>
                </a:solidFill>
              </a:rPr>
              <a:t>7. Wireframe: Approval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FDBB3-AF43-4C85-8ACA-A0B34294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0C71C-4C05-44E1-A355-80C8CB9C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0E358-52E6-477A-B455-A41F98F2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Invoice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6809E-A03D-4921-9AF2-EB211660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B57D4-CDDE-43A4-84AF-5C59F2F7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Invoices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42FD6-01BD-488B-9450-523BEDA7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002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3CE89-A4C8-42F0-ABC1-BF845216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B"/>
                </a:solidFill>
              </a:defRPr>
            </a:pPr>
            <a:r>
              <a:rPr sz="1050" b="1">
                <a:solidFill>
                  <a:srgbClr val="0F172B"/>
                </a:solidFill>
              </a:rPr>
              <a:t>Approvals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D8E41-FBEB-42A7-BC3A-CF54B476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332E9-8B29-45D4-B664-0BA80213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B042C-88F2-42A2-83F1-A0F6AB83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Role: Reviewer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969F7-3ED0-4BC4-8F60-70C7CFF1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9982200" cy="3295650"/>
          </a:xfrm>
          <a:prstGeom xmlns:a="http://schemas.openxmlformats.org/drawingml/2006/main" prst="roundRect">
            <a:avLst>
              <a:gd name="adj" fmla="val 17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49608-03AC-452D-9B4C-75F5587C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B"/>
                </a:solidFill>
              </a:defRPr>
            </a:pPr>
            <a:r>
              <a:rPr sz="2250" b="1">
                <a:solidFill>
                  <a:srgbClr val="0F172B"/>
                </a:solidFill>
              </a:rPr>
              <a:t>Make a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24812-1501-4329-B292-57BAE240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05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93D"/>
                </a:solidFill>
              </a:defRPr>
            </a:pPr>
            <a:r>
              <a:rPr sz="1500" b="0">
                <a:solidFill>
                  <a:srgbClr val="1D293D"/>
                </a:solidFill>
              </a:rPr>
              <a:t>Invoice: PT Sinar Jaya - Rp 12.400.000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036B8-9C19-47BB-93C6-9A84F00A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62350"/>
            <a:ext cx="2667000" cy="1276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30C78-10E6-46CD-8008-8E12AF26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Approve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AD20C-B93E-4B51-9E32-04FA7D55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5290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Use when invoice details are correct and the payment can continue.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7F4CC-8A3E-4643-91B1-0F9BA2D7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2667000" cy="1276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3E2BEE-0795-4C0C-AC59-84918DC4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Reject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A3FFA7-5A5A-4731-857F-CE7780F5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5290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Use when the invoice should not be processed.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B8E467-5DA8-4103-B273-FE283B3E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62350"/>
            <a:ext cx="2667000" cy="1276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087242-290A-4C14-9541-992B4101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52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Ask for correction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A9F332-5660-4AAB-B11B-7F789F80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5290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Use when vendor data or invoice detail is missing.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D0AD74-2694-4960-AA95-7422851D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10150"/>
            <a:ext cx="6286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93A662-C1F8-48C0-A90B-A686396B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244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48E"/>
                </a:solidFill>
              </a:defRPr>
            </a:pPr>
            <a:r>
              <a:rPr sz="1125" b="0">
                <a:solidFill>
                  <a:srgbClr val="62748E"/>
                </a:solidFill>
              </a:rPr>
              <a:t>Optional note for the record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2C138F-02C6-4FE3-9B59-2CEEEE6C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911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9966"/>
          </a:solidFill>
          <a:ln xmlns:a="http://schemas.openxmlformats.org/drawingml/2006/main" w="9525">
            <a:solidFill>
              <a:srgbClr val="0099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DA34E2-D86E-42FD-863E-30AE51F4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1492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Approve invoice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A3527D-A761-478E-A80C-0B2878D1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91100"/>
            <a:ext cx="9715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003F"/>
          </a:solidFill>
          <a:ln xmlns:a="http://schemas.openxmlformats.org/drawingml/2006/main" w="9525">
            <a:solidFill>
              <a:srgbClr val="EC003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B8728C-33E7-4B00-AFDC-B2AD4154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1149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Reject</a:t>
            </a:r>
          </a:p>
        </p:txBody>
      </p:sp>
    </p:spTree>
    <p:extLst>
      <p:ext uri="{BB962C8B-B14F-4D97-AF65-F5344CB8AC3E}">
        <p14:creationId xmlns:p14="http://schemas.microsoft.com/office/powerpoint/2010/main" val="8111384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591E45-B38E-4357-A14B-FAF55B4B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LOW-FIDELITY UX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E85AE-FAAC-4A95-8AC3-9CC8FDC2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B"/>
                </a:solidFill>
              </a:defRPr>
            </a:pPr>
            <a:r>
              <a:rPr sz="2625" b="1">
                <a:solidFill>
                  <a:srgbClr val="0F172B"/>
                </a:solidFill>
              </a:rPr>
              <a:t>8. Wireframe: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BC7FA-59F7-4F3A-AF22-524535C8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3AD45-A8EF-474B-9AB2-97367B8C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2250E-34A1-4553-BD54-FFA9AD32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Invoice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0E5D5-15AC-4109-B983-4CA5EA16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BDE82-64DD-47FE-9183-E5BF75F9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Invoices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D52A9-440A-4AB3-953D-2FB11D49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Approvals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758C0-0223-499A-AEEE-08D519E7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002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7653C-B862-4560-9BEA-CE0B1904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76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B"/>
                </a:solidFill>
              </a:defRPr>
            </a:pPr>
            <a:r>
              <a:rPr sz="1050" b="1">
                <a:solidFill>
                  <a:srgbClr val="0F172B"/>
                </a:solidFill>
              </a:rPr>
              <a:t>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490E9-383F-4E5C-8776-84E3DA0D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002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90DE9-0D5D-4B89-8B47-7A27F947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B"/>
                </a:solidFill>
              </a:defRPr>
            </a:pPr>
            <a:r>
              <a:rPr sz="975" b="1">
                <a:solidFill>
                  <a:srgbClr val="0F172B"/>
                </a:solidFill>
              </a:rPr>
              <a:t>Role: Reviewer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00C37-639E-4FA4-A613-80CE33A9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100584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0EB73-1524-4AFA-B5FB-0D6865F7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86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B"/>
                </a:solidFill>
              </a:defRPr>
            </a:pPr>
            <a:r>
              <a:rPr sz="2250" b="1">
                <a:solidFill>
                  <a:srgbClr val="0F172B"/>
                </a:solidFill>
              </a:rPr>
              <a:t>Invoice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2FC42-289D-405F-8EBE-455BFB29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05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9A8"/>
          </a:solidFill>
          <a:ln xmlns:a="http://schemas.openxmlformats.org/drawingml/2006/main" w="0">
            <a:solidFill>
              <a:srgbClr val="0069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D6627-F179-4DA5-90AF-D0AC04EF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Uploaded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3120C-8814-4C1B-A35E-1399A136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57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B"/>
                </a:solidFill>
              </a:defRPr>
            </a:pPr>
            <a:r>
              <a:rPr sz="1200" b="0">
                <a:solidFill>
                  <a:srgbClr val="0F172B"/>
                </a:solidFill>
              </a:rPr>
              <a:t>William uploaded invoice.pdf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8DE9E-CB22-4C14-A4FA-CD1416FB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12 Jul 2026, 09:12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696C9-3497-4547-937E-541997E6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38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9A8"/>
          </a:solidFill>
          <a:ln xmlns:a="http://schemas.openxmlformats.org/drawingml/2006/main" w="0">
            <a:solidFill>
              <a:srgbClr val="0069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1AF28-27DB-4084-AF32-49D8A728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90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Read by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5C9C3-6396-446D-9880-978DAD1A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90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B"/>
                </a:solidFill>
              </a:defRPr>
            </a:pPr>
            <a:r>
              <a:rPr sz="1200" b="0">
                <a:solidFill>
                  <a:srgbClr val="0F172B"/>
                </a:solidFill>
              </a:rPr>
              <a:t>Invoice details detected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7CAB8-A8C5-47AC-84C5-2668E28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90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12 Jul 2026, 09:13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A9617-1500-44F2-8F3E-90662CDA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71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9A8"/>
          </a:solidFill>
          <a:ln xmlns:a="http://schemas.openxmlformats.org/drawingml/2006/main" w="0">
            <a:solidFill>
              <a:srgbClr val="0069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C39045-000C-498B-B734-344D4735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24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Checked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23EED9-0073-4E18-ADE7-5D345728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243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B"/>
                </a:solidFill>
              </a:defRPr>
            </a:pPr>
            <a:r>
              <a:rPr sz="1200" b="0">
                <a:solidFill>
                  <a:srgbClr val="0F172B"/>
                </a:solidFill>
              </a:rPr>
              <a:t>Amount corrected from Rp 12.000.000 to Rp 12.400.000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60628C-76B4-4081-8A01-A4AC5AF0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24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12 Jul 2026, 09:17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3F4F1B-6CAA-4B27-8ED1-C3F2FC74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05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20817-57AD-44DE-990C-4E851472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Approved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9FF7D-017C-4F16-9054-9E39B143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57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B"/>
                </a:solidFill>
              </a:defRPr>
            </a:pPr>
            <a:r>
              <a:rPr sz="1200" b="0">
                <a:solidFill>
                  <a:srgbClr val="0F172B"/>
                </a:solidFill>
              </a:rPr>
              <a:t>Approved by reviewer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C75CB3-FD03-49DB-B362-1FADCBEC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57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12 Jul 2026, 09:20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49544-CA42-4AAA-96AD-30FAAAC6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816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48E"/>
                </a:solidFill>
              </a:defRPr>
            </a:pPr>
            <a:r>
              <a:rPr sz="1350" b="0">
                <a:solidFill>
                  <a:srgbClr val="62748E"/>
                </a:solidFill>
              </a:rPr>
              <a:t>Auditability is shown as a simple receipt, not as raw evidence tables.</a:t>
            </a:r>
          </a:p>
        </p:txBody>
      </p:sp>
    </p:spTree>
    <p:extLst>
      <p:ext uri="{BB962C8B-B14F-4D97-AF65-F5344CB8AC3E}">
        <p14:creationId xmlns:p14="http://schemas.microsoft.com/office/powerpoint/2010/main" val="8205545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2476A-6625-4EC5-B03B-093437D8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LOW-FIDELITY UX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32F3B-4146-4AE0-954C-CE7E3590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B"/>
                </a:solidFill>
              </a:defRPr>
            </a:pPr>
            <a:r>
              <a:rPr sz="2625" b="1">
                <a:solidFill>
                  <a:srgbClr val="0F172B"/>
                </a:solidFill>
              </a:rPr>
              <a:t>9. Copywriting Baru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B4699-45D2-44BC-8043-7625CD9C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4FCEF-6B3B-492A-9EFE-3457E0EE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2381250" cy="30480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13CD5-5990-4B41-820C-63973CC8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Menus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1E0B9-9FB9-4F9D-BE15-FCF36086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19621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Upload Invoice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Invoices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Approvals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History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D253D-659B-4A39-9A8A-A6F93A36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57350"/>
            <a:ext cx="2952750" cy="304800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FF22B-4AC3-460B-A866-E91D63F4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478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Buttons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B7A6B-675B-42E0-B336-605EAF81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47900"/>
            <a:ext cx="25336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Start reading invoice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Open invoice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Looks correct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Edit details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Approve invoice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Reject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Ask for correction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186E6-870F-4B6C-8659-8E03C334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57350"/>
            <a:ext cx="2667000" cy="3048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3C3B2-A449-4F94-ACC6-5A117BF6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47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Statuses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7EAAC-59B4-42BE-A7E4-698EE684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47900"/>
            <a:ext cx="22479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Reading invoice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Needs review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Waiting approval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Approved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Rejected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Needs correction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B14C9-A02C-4D11-B749-16451ED8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87249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36DF5-A4D8-45F5-A870-CD350CA4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830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Empty states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53AC4-6BFD-460E-87C1-5F213803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830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No invoices yet. Upload your first invoice.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No invoices need approval right now.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No results. Try another vendor or invoice number.</a:t>
            </a:r>
          </a:p>
        </p:txBody>
      </p:sp>
    </p:spTree>
    <p:extLst>
      <p:ext uri="{BB962C8B-B14F-4D97-AF65-F5344CB8AC3E}">
        <p14:creationId xmlns:p14="http://schemas.microsoft.com/office/powerpoint/2010/main" val="103180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7DA23C-5047-4DDB-99B7-94E0A548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LOW-FIDELITY UX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4122F-E30C-438F-8DC8-7D42317E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B"/>
                </a:solidFill>
              </a:defRPr>
            </a:pPr>
            <a:r>
              <a:rPr sz="2625" b="1">
                <a:solidFill>
                  <a:srgbClr val="0F172B"/>
                </a:solidFill>
              </a:rPr>
              <a:t>10. Keep, Hide, Delete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A6987-5E14-449A-9ECD-5F56EECA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836F1-936D-4664-8325-C980C9BC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48000" cy="333375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84DC9-D426-4172-8793-99D6515D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966"/>
          </a:solidFill>
          <a:ln xmlns:a="http://schemas.openxmlformats.org/drawingml/2006/main" w="0">
            <a:solidFill>
              <a:srgbClr val="0099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EC6CE-42FA-47AB-B890-12A2DB52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Keep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505B0-C7D4-4E8A-ABB5-97E1B3EC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0510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Upload</a:t>
            </a:r>
          </a:p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Detected invoice fields</a:t>
            </a:r>
          </a:p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Approve / reject</a:t>
            </a:r>
          </a:p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History</a:t>
            </a:r>
          </a:p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Document preview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65726-6239-4311-9281-F80384DE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048000" cy="333375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E9F62-BB63-41B3-B310-5BE9459D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319DF-73DB-4B08-81CC-1BDD87AC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Hide from main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8300E-6D13-4B13-88DA-FF9FE69A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0510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AgentOps</a:t>
            </a:r>
          </a:p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Provider health</a:t>
            </a:r>
          </a:p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Evidence tables</a:t>
            </a:r>
          </a:p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Execution controls</a:t>
            </a:r>
          </a:p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Raw schema/debug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82E2D-1B67-4EA9-810C-2AB22AD3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048000" cy="333375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141FC-CB33-41D9-BBF8-61E1EA44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003F"/>
          </a:solidFill>
          <a:ln xmlns:a="http://schemas.openxmlformats.org/drawingml/2006/main" w="0">
            <a:solidFill>
              <a:srgbClr val="EC00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A21CA-E142-46B2-823C-9E780223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B"/>
                </a:solidFill>
              </a:defRPr>
            </a:pPr>
            <a:r>
              <a:rPr sz="1125" b="0">
                <a:solidFill>
                  <a:srgbClr val="0F172B"/>
                </a:solidFill>
              </a:rPr>
              <a:t>Delete from main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86C20-6E97-4902-8A0A-84F0A610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0510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4-option Next Step picker</a:t>
            </a:r>
          </a:p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Record tab</a:t>
            </a:r>
          </a:p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Approval gate wording</a:t>
            </a:r>
          </a:p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Work queue labels for normal 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51F49-6F44-4200-B317-63011D0E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150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Recommendation: implement the simple path first, then expose admin diagnostics only when the demo asks for technical depth.</a:t>
            </a:r>
          </a:p>
        </p:txBody>
      </p:sp>
    </p:spTree>
    <p:extLst>
      <p:ext uri="{BB962C8B-B14F-4D97-AF65-F5344CB8AC3E}">
        <p14:creationId xmlns:p14="http://schemas.microsoft.com/office/powerpoint/2010/main" val="7748091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2E6AC0-8D6E-4AE1-ABDF-90959873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LOW-FIDELITY UX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280B4-E0D5-4A91-B28D-34A80508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B"/>
                </a:solidFill>
              </a:defRPr>
            </a:pPr>
            <a:r>
              <a:rPr sz="2625" b="1">
                <a:solidFill>
                  <a:srgbClr val="0F172B"/>
                </a:solidFill>
              </a:rPr>
              <a:t>11. Approval Gate Sebelum Coding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D2CD6-6F0E-40BE-A9BB-CDC9800C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09054-C438-4E0B-BBDA-922EE265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447675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750DA-5060-4D6C-992F-2E28571A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0025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What to approve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5A83F-52F8-4C4E-B55A-51550067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0576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1. Main navigation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2. Upload/list/review/decision/history screens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3. New business-facing wording</a:t>
            </a:r>
          </a:p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4. Which technical features stay hidden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77A08-02D8-4E36-8F4A-10FF4D42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47675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53CF2-A14A-4A42-B413-DB053025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0025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What not to discuss yet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546F1-11B8-4ACC-859C-EA2370A3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0300"/>
            <a:ext cx="40576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Colors, icons, animations, exact spacing, internal API naming, developer-only monitoring screens.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3E04A-8707-44BA-B8C9-AF8F590C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38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If this structure is approved, the next frontend sprint should be one focused redesign sprint, not more mini-sprints.</a:t>
            </a:r>
          </a:p>
        </p:txBody>
      </p:sp>
    </p:spTree>
    <p:extLst>
      <p:ext uri="{BB962C8B-B14F-4D97-AF65-F5344CB8AC3E}">
        <p14:creationId xmlns:p14="http://schemas.microsoft.com/office/powerpoint/2010/main" val="923036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2026-07-12T05:17:26.1270000Z</dcterms:created>
  <dcterms:modified xsi:type="dcterms:W3CDTF">2026-07-12T05:17:26.1270000Z</dcterms:modified>
</coreProperties>
</file>